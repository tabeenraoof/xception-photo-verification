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project name and the three-way classification task. Headline: 74.92% validation and 73.27% test accuracy on a 3-class problem with 25 AI generators, 11 Real-image sources, and CASIA-2 forgeries. Val/test gap is only 1.65 pp - the model generalizes, it isn't overfitting. The numbers are a bit lower than the prior 77.62% run on purpose - we deliberately merged CASIA's authentic images into the Real class to break a dataset-source shortcut, and the new model is honest where the old one was cheating.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problem: generative AI plus classic photo manipulation are converging threats. Most academic work treats this as binary, but real-world deployments need to distinguish manual forgeries from synthetic ones because the response is different - a spliced image comes from a human editor, an AI-generated one comes from a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two-stage idea. Standard transfer-learning pattern: use ImageNet's general visual knowledge for free, only train a small final classifier on your task. Trade-off: we lose the option to fine-tune CNN weights on forgery-specific cues. We'll come back to this on the design-decisions and fine-tuning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about which class comes from where. The CASIA Au merge was added in the final iteration after the cross-source check showed that Real (only ArtiFact) and Forged (only CASIA) had no source overlap, letting the model learn 'this came from CASIA' as a free predictor for Forged. Pulling Au into Real forces the model to actually look at the image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methodological-rigor slide. The first version of the project found ONLY stylegan2 as an AI source (everything else used target=imagenet_class). Cross-source check uncovered this; the discovery fix found 24 additional generators. Stratified sampling then ensured no single generator dominates. Fix #3 came last, after the 12.5K run revealed that Real-only-from-ArtiFact + Forged-only-from-CASIA was teaching the model to predict by dataset signature. Mixing Au into Real cost ~3 pp accuracy but broke the shortcut - landscape photos went from probable-Forged to 89%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NOTHING in the CNN is trained on our data - we are reusing ImageNet's learned features as-is. MobileNetV2 was picked for its size contrast (much smaller and faster), to test whether feature-extractor capacity matters. Spoiler: at this data scale, MobileNetV2 wins. On CPU, Xception extraction took ~70 minutes, MobileNetV2 ~32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MobileNetV2 + SVM is consistently the best across all sample sizes we tested. Two patterns: SVM beats RF on dense GAP features (RF overfits); MobileNetV2 beats Xception (smaller, less-abstracted features generalize better on this task). The 74.92% val / 73.27% test number is ~3 pp lower than the prior 77.62% run; that drop is the honest cost of breaking the CASIA-vs-ArtiFact dataset shortcut by adding Au to Real. The 1.65 pp val/test gap shows the model is not overfitting. Per-class F1: Real 0.68 - Forged 0.88 - AI_Generated 0.72 - Forged is the easiest class because splicing artifacts are well-aligned with ImageNet features. Xception was not retrained after the Au merge: the 5K and 12.5K-without-Au runs already showed MobileNetV2 ahead on both classifiers, and SVM training on 21K Xception features takes multiple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audience through the bars left-to-right. The two MobileNetV2 combinations are what we re-trained after the CASIA Au merge. SVM beats RF by ~4 pp on the same features - dense GAP features favor a max-margin classifier over tree ensembles. The Ali et al. line is at 92.23% on a binary, single-dataset, fine-tuned setup; we include it as a reference point but explicitly do NOT claim parity - slide 8 covers the apples-to-oranges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claim we beat Ali et al. - we have a different problem. The honest framing is: as 'accuracy gain over chance,' the two are comparable, but our task is harder. On the binary subtask (CASIA forged), our system was at 96.5% before the Au merge and at 89.08% after, because the model can no longer use 'this came from CASIA' as a free predictor. That accuracy drop is the price of methodological honesty. Be ready for: 'Why didn't you reproduce their setup directly?' Answer: time, GPU access, and the 3-class formulation forces a different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elevates the project from 'we built a classifier' to 'we discovered something about the limits of frozen ImageNet features.' Newer generators (stylegan3, stable_diffusion) are actively designed to look photorealistic - they don't leave the kind of artifacts ImageNet semantics encode. Older generators (BigGAN, StarGAN, DDPM) leave artifacts that align with ImageNet's feature space, so we detect them at 90%+. This is the empirical case for frequency-aware backbones (NoisePrint, FrequencyNet) over ImageNet transfer learning. Note the StyleGAN gradient: 1 -&gt; 2 -&gt; 3 from 69% -&gt; 64% -&gt; 33%. Each release was explicitly designed to remove the artifacts of the previous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each decision as an explicit trade-off. The 5K -&gt; 12.5K experiment is your evidence that simply scaling data won't fix the core limitation: frozen ImageNet features have a representational ceiling for modern AI detection. This justifies the future-work slide and shows you tested the obvious next step before recommending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journey slide and arguably the most important content. Frame it as 'each iteration moved the headline number AND fixed a real methodological flaw.' Run 1 was a stylegan2 detector hiding behind 84% accuracy. Run 2 caught that. Run 3 added data and proved data isn't the bottleneck. Run 4 traded 3 pp of accuracy for genuine source-independent classification. The 49.7% on CASIA Au is the smoking gun - it's exactly chance for a binary Real-vs-Forged distinction within the same dataset, which means the model is no longer using dataset signature to predict. This is what we wanted.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methodologically strongest slide. The 5K version of this same check is what surfaced the dataset-bias problem (lsun at 28%, AI_Generated only stylegan2). After fixing discovery + sampling + adding CASIA Au to Real, the 12.5K version shows: real generalization across most sources, with a small set of modern diffusion generators frozen features cannot learn. The Au signal at 49.7% is the strongest evidence that we no longer have a shortcut. The decision rule embedded in step4b is what tells us NOT to fine-tune in response to wide spread - that's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explicit answer to 'why don't you just fine-tune?' Three reasons, in order of strength. The spread rule is the hard stop - we built it into step4b specifically to keep us from doing the wrong thing under pressure. The data-scaling result is the experimental evidence. The frequency-bias point is the architectural argument: fine-tuning a semantic-feature net won't grow the spectral features that modern diffusion detection actually needs. If asked 'so when would you fine-tune?' say: after either (a) the dataset is balanced enough that spread is below the threshold, or (b) you've already added frequency-aware features and want to push the Easy + Medium tiers higher. Not before.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Gradio demo here if AV setup allows. Have 2-3 sample images preloaded: a real photo (test that landscape photos now go to Real - they did NOT before the CASIA Au fix), a CASIA tampered image, and an AI-generated one (preferably a hard one like Stable Diffusion to honestly show the limitation). Future-work order matters: frequency-aware backbone FIRST because it addresses the Hard tier directly. Fine-tuning is now item #2 (was #1 in earlier versions of this deck) because the data-scaling experiment plus the spread rule both point away from end-to-end fine-tuning as a first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TruPhoto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Image Authenticity Classification</a:t>
            </a:r>
          </a:p>
          <a:p>
            <a:r>
              <a:t>Real  /  Forged  /  AI-Generated</a:t>
            </a:r>
          </a:p>
          <a:p/>
          <a:p>
            <a:r>
              <a:t>Tabeen Raoof  -  CS483 Deep Learning, SFBU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image authenticity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Generative models (Stable Diffusion, GANs, deepfakes) make synthetic images trivial to produce.</a:t>
            </a:r>
          </a:p>
          <a:p>
            <a:pPr>
              <a:defRPr sz="1600"/>
            </a:pPr>
            <a:r>
              <a:t>Traditional forgery (splicing, copy-move) is still common in misinformation and fraud.</a:t>
            </a:r>
          </a:p>
          <a:p>
            <a:pPr>
              <a:defRPr sz="1600"/>
            </a:pPr>
            <a:r>
              <a:t>Detecting both threats requires a single classifier that distinguishes:</a:t>
            </a:r>
          </a:p>
          <a:p>
            <a:pPr>
              <a:defRPr sz="1600"/>
            </a:pPr>
            <a:r>
              <a:t>    -  Real photos</a:t>
            </a:r>
          </a:p>
          <a:p>
            <a:pPr>
              <a:defRPr sz="1600"/>
            </a:pPr>
            <a:r>
              <a:t>    -  Manually forged images (CASIA 2.0  Tp/)</a:t>
            </a:r>
          </a:p>
          <a:p>
            <a:pPr>
              <a:defRPr sz="1600"/>
            </a:pPr>
            <a:r>
              <a:t>    -  Fully AI-generated images (ArtiFact, 25 generators)</a:t>
            </a:r>
          </a:p>
          <a:p>
            <a:pPr>
              <a:defRPr sz="1600"/>
            </a:pPr>
            <a:r>
              <a:t>Goal: a 3-class system, not just a binary real/fake detector.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Two-stage architecture:</a:t>
            </a:r>
          </a:p>
          <a:p>
            <a:pPr>
              <a:defRPr sz="1600"/>
            </a:pPr>
            <a:r>
              <a:t>    1.  Frozen pretrained CNN  -&gt;  fixed-length feature vector per image.</a:t>
            </a:r>
          </a:p>
          <a:p>
            <a:pPr>
              <a:defRPr sz="1600"/>
            </a:pPr>
            <a:r>
              <a:t>    2.  Lightweight classifier (Random Forest / SVM) on those features.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Why this split?</a:t>
            </a:r>
          </a:p>
          <a:p>
            <a:pPr>
              <a:defRPr sz="1600"/>
            </a:pPr>
            <a:r>
              <a:t>    -  No GPU required for training the classifier.</a:t>
            </a:r>
          </a:p>
          <a:p>
            <a:pPr>
              <a:defRPr sz="1600"/>
            </a:pPr>
            <a:r>
              <a:t>    -  CNN runs once, classifier iterates fast.</a:t>
            </a:r>
          </a:p>
          <a:p>
            <a:pPr>
              <a:defRPr sz="1600"/>
            </a:pPr>
            <a:r>
              <a:t>    -  Classical classifiers are easy to interpret and calibrate.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Pipeline:  step1 prep  -&gt;  step2 features  -&gt;  step3 train  -&gt;  step4 evaluate  -&gt;  step4b sanity check  -&gt;  step5 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ArtiFact (Kaggle):</a:t>
            </a:r>
          </a:p>
          <a:p>
            <a:pPr>
              <a:defRPr sz="1600"/>
            </a:pPr>
            <a:r>
              <a:t>    -  33 generator/source subfolders kept on disk after partial download.</a:t>
            </a:r>
          </a:p>
          <a:p>
            <a:pPr>
              <a:defRPr sz="1600"/>
            </a:pPr>
            <a:r>
              <a:t>    -  10 contribute Real images (afhq, celebahq, coco, cycle_gan, ffhq, imagenet,</a:t>
            </a:r>
          </a:p>
          <a:p>
            <a:pPr>
              <a:defRPr sz="1600"/>
            </a:pPr>
            <a:r>
              <a:t>         landscape, lsun, metfaces, pro_gan)  ~972K images.</a:t>
            </a:r>
          </a:p>
          <a:p>
            <a:pPr>
              <a:defRPr sz="1600"/>
            </a:pPr>
            <a:r>
              <a:t>    -  25 contribute AI-Generated (StyleGAN1/2/3, Stable Diffusion, GLIDE, BigGAN,</a:t>
            </a:r>
          </a:p>
          <a:p>
            <a:pPr>
              <a:defRPr sz="1600"/>
            </a:pPr>
            <a:r>
              <a:t>         latent_diffusion, DDPM, sfhq, palette, ...)  ~1.53M images.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CASIA 2.0:</a:t>
            </a:r>
          </a:p>
          <a:p>
            <a:pPr>
              <a:defRPr sz="1600"/>
            </a:pPr>
            <a:r>
              <a:t>    -  Tp/ -&gt; 'Forged' class  (5,123 images, full set used).</a:t>
            </a:r>
          </a:p>
          <a:p>
            <a:pPr>
              <a:defRPr sz="1600"/>
            </a:pPr>
            <a:r>
              <a:t>    -  Au/ -&gt; mixed into 'Real' class  (7,491 images)  - added in final iteration</a:t>
            </a:r>
          </a:p>
          <a:p>
            <a:pPr>
              <a:defRPr sz="1600"/>
            </a:pPr>
            <a:r>
              <a:t>         to break the dataset-source shortcut.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Per-class budget:  12,500 samples per class, stratified across sources.</a:t>
            </a:r>
          </a:p>
          <a:p>
            <a:pPr>
              <a:defRPr sz="1600"/>
            </a:pPr>
            <a:r>
              <a:t>70 / 15 / 15 train / val / test split, fixed seed 42.  Forged is undersized (5,123 total).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  -  Data preparation (three key fixes)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Discovery: parse metadata.csv per ArtiFact subfolder; scan CASIA Tp/ and Au/.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FIX #1  -  Generator-aware label inference</a:t>
            </a:r>
          </a:p>
          <a:p>
            <a:pPr>
              <a:defRPr sz="1600"/>
            </a:pPr>
            <a:r>
              <a:t>    -  ArtiFact metadata uses two schemas: target=0/1 in some folders,</a:t>
            </a:r>
          </a:p>
          <a:p>
            <a:pPr>
              <a:defRPr sz="1600"/>
            </a:pPr>
            <a:r>
              <a:t>       target=&lt;imagenet_class_index&gt; in others (e.g. big_gan uses 6).</a:t>
            </a:r>
          </a:p>
          <a:p>
            <a:pPr>
              <a:defRPr sz="1600"/>
            </a:pPr>
            <a:r>
              <a:t>    -  When target is non-binary, fall back to folder name to decide AI vs Real.</a:t>
            </a:r>
          </a:p>
          <a:p>
            <a:pPr>
              <a:defRPr sz="1600"/>
            </a:pPr>
            <a:r>
              <a:t>    -  Without this fix:  1 AI source on disk found.  After fix:  25.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FIX #2  -  Stratified sampling across sources</a:t>
            </a:r>
          </a:p>
          <a:p>
            <a:pPr>
              <a:defRPr sz="1600"/>
            </a:pPr>
            <a:r>
              <a:t>    -  Naive random.sample gave stylegan2 ~70% of the AI class (1M images vs 10K).</a:t>
            </a:r>
          </a:p>
          <a:p>
            <a:pPr>
              <a:defRPr sz="1600"/>
            </a:pPr>
            <a:r>
              <a:t>    -  Equal allocation per source + redistribute leftovers from larger pools.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FIX #3  -  Mix CASIA Au/ into the Real class</a:t>
            </a:r>
          </a:p>
          <a:p>
            <a:pPr>
              <a:defRPr sz="1600"/>
            </a:pPr>
            <a:r>
              <a:t>    -  Earlier runs had Real entirely from ArtiFact - a 100% dataset-source</a:t>
            </a:r>
          </a:p>
          <a:p>
            <a:pPr>
              <a:defRPr sz="1600"/>
            </a:pPr>
            <a:r>
              <a:t>       shortcut for predicting Forged.  Now Real comes from 11 sources, including CASIA Au.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Resize 299 x 299 RGB JPEG q95.  Save metadata.csv with source -&gt; class -&gt; split mapping.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  -  Feature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Load Xception via timm:  pretrained=True, num_classes=0</a:t>
            </a:r>
          </a:p>
          <a:p>
            <a:pPr>
              <a:defRPr sz="1600"/>
            </a:pPr>
            <a:r>
              <a:t>    -  num_classes=0 strips the classifier head.</a:t>
            </a:r>
          </a:p>
          <a:p>
            <a:pPr>
              <a:defRPr sz="1600"/>
            </a:pPr>
            <a:r>
              <a:t>    -  Output: 2048-dim global-average-pooled feature vector.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Freeze all parameters  (param.requires_grad = False)</a:t>
            </a:r>
          </a:p>
          <a:p>
            <a:pPr>
              <a:defRPr sz="1600"/>
            </a:pPr>
            <a:r>
              <a:t>Set model.eval()  (locks BatchNorm, disables dropout)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Forward-pass each split through the model with no_grad.</a:t>
            </a:r>
          </a:p>
          <a:p>
            <a:pPr>
              <a:defRPr sz="1600"/>
            </a:pPr>
            <a:r>
              <a:t>Save features as .npy files: xception_x_train.npy, ...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Ablation: also extract MobileNetV2 features (1280-dim).</a:t>
            </a:r>
          </a:p>
          <a:p>
            <a:pPr>
              <a:defRPr sz="1600"/>
            </a:pPr>
            <a:r>
              <a:t>    -  ~3-5x faster than Xception at inference; tests whether smaller features generalize better.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 + 4  -  Classifiers and ablation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943600" cy="5029200"/>
          </a:xfrm>
        </p:spPr>
        <p:txBody>
          <a:bodyPr/>
          <a:lstStyle/>
          <a:p>
            <a:pPr>
              <a:defRPr sz="1400"/>
            </a:pPr>
            <a:r>
              <a:t>Two classifiers per backbone:</a:t>
            </a:r>
          </a:p>
          <a:p>
            <a:pPr>
              <a:defRPr sz="1400"/>
            </a:pPr>
            <a:r>
              <a:t>    -  Random Forest:  200 trees, balanced.</a:t>
            </a:r>
          </a:p>
          <a:p>
            <a:pPr>
              <a:defRPr sz="1400"/>
            </a:pPr>
            <a:r>
              <a:t>    -  SVM:  RBF, C=10, StandardScaler.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Test accuracy (12.5K per class):</a:t>
            </a:r>
          </a:p>
          <a:p>
            <a:pPr>
              <a:defRPr sz="1400"/>
            </a:pPr>
            <a:r>
              <a:t>    -  MobileNetV2 + RF   -&gt;  69.40%</a:t>
            </a:r>
          </a:p>
          <a:p>
            <a:pPr>
              <a:defRPr sz="1400"/>
            </a:pPr>
            <a:r>
              <a:t>    -  MobileNetV2 + SVM  -&gt;  73.27%   (best)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Per-class F1 (best combo):</a:t>
            </a:r>
          </a:p>
          <a:p>
            <a:pPr>
              <a:defRPr sz="1400"/>
            </a:pPr>
            <a:r>
              <a:t>    Real 0.68 - Forged 0.88 - AI 0.72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Val/test gap = 1.65 pp -&gt; generalizes well.</a:t>
            </a:r>
          </a:p>
          <a:p>
            <a:pPr>
              <a:defRPr sz="1400"/>
            </a:pPr>
            <a:r>
              <a:t>Forged is the easiest class; Real &lt;-&gt; AI is</a:t>
            </a:r>
          </a:p>
          <a:p>
            <a:pPr>
              <a:defRPr sz="1400"/>
            </a:pPr>
            <a:r>
              <a:t>where most errors live (see matrix).</a:t>
            </a:r>
          </a:p>
        </p:txBody>
      </p:sp>
      <p:pic>
        <p:nvPicPr>
          <p:cNvPr id="4" name="Picture 3" descr="cm_mobilenetv2_100_s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5303520" cy="41867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Ablation chart  -  test-set accuracy</a:t>
            </a:r>
          </a:p>
        </p:txBody>
      </p:sp>
      <p:pic>
        <p:nvPicPr>
          <p:cNvPr id="3" name="Picture 2" descr="abl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280160"/>
            <a:ext cx="7589520" cy="45158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0350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/>
            </a:pPr>
            <a:r>
              <a:t>MobileNetV2 + SVM is the best combination at 73.27% test accuracy. Red dashed line is Ali et al. (2022) binary CASIA baseline at 92.23% - different task (binary, single dataset, fine-tuned), shown for reference 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with Ali et al. (2022)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Ali et al. (2022) reported 92.23% accuracy on CASIA 2.0.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Differences from this work:</a:t>
            </a:r>
          </a:p>
          <a:p>
            <a:pPr>
              <a:defRPr sz="1600"/>
            </a:pPr>
            <a:r>
              <a:t>    -  Theirs:  binary  (Real vs. Forged), one dataset.</a:t>
            </a:r>
          </a:p>
          <a:p>
            <a:pPr>
              <a:defRPr sz="1600"/>
            </a:pPr>
            <a:r>
              <a:t>    -  Ours:    3-class (Real, Forged, AI-Generated), two datasets, 25 AI generators.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    -  Theirs:  fine-tuned Xception end-to-end on CASIA.</a:t>
            </a:r>
          </a:p>
          <a:p>
            <a:pPr>
              <a:defRPr sz="1600"/>
            </a:pPr>
            <a:r>
              <a:t>    -  Ours:    frozen Xception/MobileNetV2 + classical classifier (no fine-tuning).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Direct accuracy comparison is apples-to-oranges:</a:t>
            </a:r>
          </a:p>
          <a:p>
            <a:pPr>
              <a:defRPr sz="1600"/>
            </a:pPr>
            <a:r>
              <a:t>    -  Random baseline for binary = 50%; their 92.23% is +42 over chance.</a:t>
            </a:r>
          </a:p>
          <a:p>
            <a:pPr>
              <a:defRPr sz="1600"/>
            </a:pPr>
            <a:r>
              <a:t>    -  Random baseline for 3-class = 33%; our 74.92% is +42 over chance.  (Comparable lift.)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On the binary CASIA Tp/ subtask alone our system still hits ~89% accuracy after the</a:t>
            </a:r>
          </a:p>
          <a:p>
            <a:pPr>
              <a:defRPr sz="1600"/>
            </a:pPr>
            <a:r>
              <a:t>Au merge  (down from 96.5% before, because the CASIA-source shortcut is gone).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Generator difficulty tiers  (the headline finding)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Per-source AI accuracy (mobilenetv2_100 + SVM, 12.5K samples, CASIA Au in Real):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EASY  (&gt;= 85%, frozen features detect them well):</a:t>
            </a:r>
          </a:p>
          <a:p>
            <a:pPr>
              <a:defRPr sz="1600"/>
            </a:pPr>
            <a:r>
              <a:t>    star_gan 100%, sfhq 96%, face_synthetics 96%, ddpm 94%, cips 91%,</a:t>
            </a:r>
          </a:p>
          <a:p>
            <a:pPr>
              <a:defRPr sz="1600"/>
            </a:pPr>
            <a:r>
              <a:t>    gansformer 89%, denoising_diffusion_gan 86%, big_gan 85%, palette 85%.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MEDIUM  (60 - 85%):</a:t>
            </a:r>
          </a:p>
          <a:p>
            <a:pPr>
              <a:defRPr sz="1600"/>
            </a:pPr>
            <a:r>
              <a:t>    gau_gan 76%, stylegan1 69%, lama 69%, stylegan2 64%, taming_transformer 62%,</a:t>
            </a:r>
          </a:p>
          <a:p>
            <a:pPr>
              <a:defRPr sz="1600"/>
            </a:pPr>
            <a:r>
              <a:t>    projected_gan 62%, glide 60%, mat 60%.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HARD  (&lt; 60%, frozen features struggle):</a:t>
            </a:r>
          </a:p>
          <a:p>
            <a:pPr>
              <a:defRPr sz="1600"/>
            </a:pPr>
            <a:r>
              <a:t>    stable_diffusion 59%, diffusion_gan 57%, latent_diffusion 55%,</a:t>
            </a:r>
          </a:p>
          <a:p>
            <a:pPr>
              <a:defRPr sz="1600"/>
            </a:pPr>
            <a:r>
              <a:t>    vq_diffusion 52%, generative_inpainting 46%,  stylegan3 33%.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Pattern:  older / artifact-heavy generators are detected; modern diffusion approaches chance.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design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Frozen vs. fine-tuned CNN:</a:t>
            </a:r>
          </a:p>
          <a:p>
            <a:pPr>
              <a:defRPr sz="1600"/>
            </a:pPr>
            <a:r>
              <a:t>    +  Trains in minutes on CPU. Reproducible. No GPU required.</a:t>
            </a:r>
          </a:p>
          <a:p>
            <a:pPr>
              <a:defRPr sz="1600"/>
            </a:pPr>
            <a:r>
              <a:t>    -  Misses task-specific cues (texture, frequency, generator fingerprints).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Random Forest + SVM vs. neural head:</a:t>
            </a:r>
          </a:p>
          <a:p>
            <a:pPr>
              <a:defRPr sz="1600"/>
            </a:pPr>
            <a:r>
              <a:t>    +  Fast iteration, calibration available, easy to interpret.</a:t>
            </a:r>
          </a:p>
          <a:p>
            <a:pPr>
              <a:defRPr sz="1600"/>
            </a:pPr>
            <a:r>
              <a:t>    -  Fewer parameters; RF probabilities uncalibrated by default.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3-class vs. binary formulation:</a:t>
            </a:r>
          </a:p>
          <a:p>
            <a:pPr>
              <a:defRPr sz="1600"/>
            </a:pPr>
            <a:r>
              <a:t>    +  Closer to a real moderation use case.</a:t>
            </a:r>
          </a:p>
          <a:p>
            <a:pPr>
              <a:defRPr sz="1600"/>
            </a:pPr>
            <a:r>
              <a:t>    -  Per-class data balance is harder; less directly comparable to prior work.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5K vs 12.5K samples per class  (data-scaling experiment):</a:t>
            </a:r>
          </a:p>
          <a:p>
            <a:pPr>
              <a:defRPr sz="1600"/>
            </a:pPr>
            <a:r>
              <a:t>    -  RF accuracy DROPPED with 2.5x more data on both backbones (-2.4 / -2.7 pp).</a:t>
            </a:r>
          </a:p>
          <a:p>
            <a:pPr>
              <a:defRPr sz="1600"/>
            </a:pPr>
            <a:r>
              <a:t>    -  Direct evidence of a frozen-feature ceiling, not a data shortage.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Project structured as a Python package (src/ + pyproject.toml) for reproducibility.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Iteration history  -  what each run taught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Run 1  -  Naive baseline:</a:t>
            </a:r>
          </a:p>
          <a:p>
            <a:pPr>
              <a:defRPr sz="1600"/>
            </a:pPr>
            <a:r>
              <a:t>    -  Result:  ~84% accuracy, looked great.</a:t>
            </a:r>
          </a:p>
          <a:p>
            <a:pPr>
              <a:defRPr sz="1600"/>
            </a:pPr>
            <a:r>
              <a:t>    -  Reality:  only stylegan2 was being detected (1 AI source on disk).</a:t>
            </a:r>
          </a:p>
          <a:p>
            <a:pPr>
              <a:defRPr sz="1600"/>
            </a:pPr>
            <a:r>
              <a:t>    -  Lesson:  cross-source check is mandatory; headline accuracy can be a mirage.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Run 2  -  Discovery fix + stratified sampling, 5K per class:</a:t>
            </a:r>
          </a:p>
          <a:p>
            <a:pPr>
              <a:defRPr sz="1600"/>
            </a:pPr>
            <a:r>
              <a:t>    -  Result:  RF ~71%, SVM ~76%.  25 AI sources active.</a:t>
            </a:r>
          </a:p>
          <a:p>
            <a:pPr>
              <a:defRPr sz="1600"/>
            </a:pPr>
            <a:r>
              <a:t>    -  Cross-source revealed:  lsun (real scenes) at 28%, ffhq (real faces) routed to AI.</a:t>
            </a:r>
          </a:p>
          <a:p>
            <a:pPr>
              <a:defRPr sz="1600"/>
            </a:pPr>
            <a:r>
              <a:t>    -  Lesson:  data composition matters more than data volume.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Run 3  -  Same fixes, 12.5K per class (more data):</a:t>
            </a:r>
          </a:p>
          <a:p>
            <a:pPr>
              <a:defRPr sz="1600"/>
            </a:pPr>
            <a:r>
              <a:t>    -  Result:  RF dropped 2.4 - 2.7 pp.  SVM hit 77.62% val / 76.76% test.</a:t>
            </a:r>
          </a:p>
          <a:p>
            <a:pPr>
              <a:defRPr sz="1600"/>
            </a:pPr>
            <a:r>
              <a:t>    -  Lesson:  frozen-feature ceiling is real - more data hurts the high-capacity classifier.</a:t>
            </a:r>
          </a:p>
          <a:p>
            <a:pPr>
              <a:defRPr sz="1600"/>
            </a:pPr>
            <a:r>
              <a:t>    -  Bias still visible:  landscape photos in the demo predicted 'Forged'.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Run 4  -  Mix CASIA Au into Real, 12.5K per class  (current results):</a:t>
            </a:r>
          </a:p>
          <a:p>
            <a:pPr>
              <a:defRPr sz="1600"/>
            </a:pPr>
            <a:r>
              <a:t>    -  Result:  74.92% val  /  73.27% test  (1.65 pp gap, good generalization).</a:t>
            </a:r>
          </a:p>
          <a:p>
            <a:pPr>
              <a:defRPr sz="1600"/>
            </a:pPr>
            <a:r>
              <a:t>    -  landscape:  ~28% (Run 2)  -&gt;  89% Real (Run 4).  lsun:  -&gt;  69%.</a:t>
            </a:r>
          </a:p>
          <a:p>
            <a:pPr>
              <a:defRPr sz="1600"/>
            </a:pPr>
            <a:r>
              <a:t>    -  Forged on Tp/:  96.5%  -&gt;  89.08%.  CASIA shortcut broken; the drop is honest cost.</a:t>
            </a:r>
          </a:p>
          <a:p>
            <a:pPr>
              <a:defRPr sz="1600"/>
            </a:pPr>
            <a:r>
              <a:t>    -  Au at 49.7% Real (chance-level within CASIA)  =  proof the shortcut is gone.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Cross-source sanity check  (Step 4b)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Concern: with Real and Forged coming from different datasets, the classifier could</a:t>
            </a:r>
          </a:p>
          <a:p>
            <a:pPr>
              <a:defRPr sz="1600"/>
            </a:pPr>
            <a:r>
              <a:t>learn dataset signatures (JPEG tables, sensor noise) instead of authenticity cues.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Method:  step4b_cross_dataset_check.py</a:t>
            </a:r>
          </a:p>
          <a:p>
            <a:pPr>
              <a:defRPr sz="1600"/>
            </a:pPr>
            <a:r>
              <a:t>    -  Splits the test set by source folder (each ArtiFact generator, CASIA Tp/, CASIA Au/).</a:t>
            </a:r>
          </a:p>
          <a:p>
            <a:pPr>
              <a:defRPr sz="1600"/>
            </a:pPr>
            <a:r>
              <a:t>    -  Reports per-source accuracy + within-class spread.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Findings on the final 12.5K MobileNetV2 + SVM model (after Au merge):</a:t>
            </a:r>
          </a:p>
          <a:p>
            <a:pPr>
              <a:defRPr sz="1600"/>
            </a:pPr>
            <a:r>
              <a:t>    -  Forged (CASIA Tp/):           89.08%   (1 source, no spread)</a:t>
            </a:r>
          </a:p>
          <a:p>
            <a:pPr>
              <a:defRPr sz="1600"/>
            </a:pPr>
            <a:r>
              <a:t>    -  AI_Generated:    33% - 100%   (23 sources, spread = 67.2 pp)</a:t>
            </a:r>
          </a:p>
          <a:p>
            <a:pPr>
              <a:defRPr sz="1600"/>
            </a:pPr>
            <a:r>
              <a:t>    -  Real:            49% - 93%    (11 sources, spread = 43.8 pp)</a:t>
            </a:r>
          </a:p>
          <a:p>
            <a:pPr>
              <a:defRPr sz="1600"/>
            </a:pPr>
            <a:r>
              <a:t>    -  CASIA Au:        49.72%       (chance-level  =  shortcut broken)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Verdict:  generator difficulty is real, not a shortcut. lsun and landscape recovered</a:t>
            </a:r>
          </a:p>
          <a:p>
            <a:pPr>
              <a:defRPr sz="1600"/>
            </a:pPr>
            <a:r>
              <a:t>from &lt;30% to 69% / 89%. Forged dropped 7 pp because the dataset-source shortcut is gone.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Decision rule:  spread &gt; 15 pp  -&gt;  do NOT fine-tune frozen features (would amplify the gap).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Should we fine-tune the CNN?  Decision: NO (for now)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Three reasons not to fine-tune now: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1.  Spread rule says NO.</a:t>
            </a:r>
          </a:p>
          <a:p>
            <a:pPr>
              <a:defRPr sz="1600"/>
            </a:pPr>
            <a:r>
              <a:t>    -  AI_Generated spread = 67 pp,  Real spread = 44 pp.  Both &gt;&gt; 15 pp threshold.</a:t>
            </a:r>
          </a:p>
          <a:p>
            <a:pPr>
              <a:defRPr sz="1600"/>
            </a:pPr>
            <a:r>
              <a:t>    -  Fine-tuning amplifies bias when the data is uneven across sources;</a:t>
            </a:r>
          </a:p>
          <a:p>
            <a:pPr>
              <a:defRPr sz="1600"/>
            </a:pPr>
            <a:r>
              <a:t>       it would make easy generators easier and hard generators no better.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2.  Data-scaling experiment ruled out 'just need more data'.</a:t>
            </a:r>
          </a:p>
          <a:p>
            <a:pPr>
              <a:defRPr sz="1600"/>
            </a:pPr>
            <a:r>
              <a:t>    -  5K -&gt; 12.5K per class lowered RF accuracy on both backbones.</a:t>
            </a:r>
          </a:p>
          <a:p>
            <a:pPr>
              <a:defRPr sz="1600"/>
            </a:pPr>
            <a:r>
              <a:t>    -  More data didn't close the gap, so the bottleneck isn't training-set size.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3.  Hard tier needs a different inductive bias, not a tuned ImageNet net.</a:t>
            </a:r>
          </a:p>
          <a:p>
            <a:pPr>
              <a:defRPr sz="1600"/>
            </a:pPr>
            <a:r>
              <a:t>    -  StyleGAN3 at 33%, Stable Diffusion at 59%, latent_diffusion at 55%.</a:t>
            </a:r>
          </a:p>
          <a:p>
            <a:pPr>
              <a:defRPr sz="1600"/>
            </a:pPr>
            <a:r>
              <a:t>    -  These generators are designed to look photographic to ImageNet-style nets.</a:t>
            </a:r>
          </a:p>
          <a:p>
            <a:pPr>
              <a:defRPr sz="1600"/>
            </a:pPr>
            <a:r>
              <a:t>    -  The fix is frequency / noise-residual features (NoisePrint, FrequencyNet),</a:t>
            </a:r>
          </a:p>
          <a:p>
            <a:pPr>
              <a:defRPr sz="1600"/>
            </a:pPr>
            <a:r>
              <a:t>       not more learning on the wrong inductive bias.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When to revisit fine-tuning:</a:t>
            </a:r>
          </a:p>
          <a:p>
            <a:pPr>
              <a:defRPr sz="1600"/>
            </a:pPr>
            <a:r>
              <a:t>    -  After per-source spread drops below ~15 pp via better dataset balancing.</a:t>
            </a:r>
          </a:p>
          <a:p>
            <a:pPr>
              <a:defRPr sz="1600"/>
            </a:pPr>
            <a:r>
              <a:t>    -  As a TARGETED last-block tune on Easy + Medium tiers only,</a:t>
            </a:r>
          </a:p>
          <a:p>
            <a:pPr>
              <a:defRPr sz="1600"/>
            </a:pPr>
            <a:r>
              <a:t>       not a generic end-to-end retrain.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Demo, limitations,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Live demo:  python -m src.step5_gradio_demo  (http://127.0.0.1:7860)</a:t>
            </a:r>
          </a:p>
          <a:p>
            <a:pPr>
              <a:defRPr sz="1600"/>
            </a:pPr>
            <a:r>
              <a:t>    -  Uses the best combo by default:  MobileNetV2 + SVM + StandardScaler.</a:t>
            </a:r>
          </a:p>
          <a:p>
            <a:pPr>
              <a:defRPr sz="1600"/>
            </a:pPr>
            <a:r>
              <a:t>    -  Upload an image  -&gt;  predicted class + per-class confidences.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Known limitations:</a:t>
            </a:r>
          </a:p>
          <a:p>
            <a:pPr>
              <a:defRPr sz="1600"/>
            </a:pPr>
            <a:r>
              <a:t>    -  Frozen ImageNet features hit a ceiling on modern diffusion (Stable Diffusion ~59%).</a:t>
            </a:r>
          </a:p>
          <a:p>
            <a:pPr>
              <a:defRPr sz="1600"/>
            </a:pPr>
            <a:r>
              <a:t>    -  Random Forest probabilities uncalibrated (demo bars are indicative, not literal).</a:t>
            </a:r>
          </a:p>
          <a:p>
            <a:pPr>
              <a:defRPr sz="1600"/>
            </a:pPr>
            <a:r>
              <a:t>    -  Single train/val/test seed; no cross-validation.</a:t>
            </a:r>
          </a:p>
          <a:p>
            <a:pPr>
              <a:defRPr sz="1600"/>
            </a:pPr>
            <a:r>
              <a:t>    -  CASIA Au at 49.7% means within-CASIA Real-vs-Forged is at chance - some Au</a:t>
            </a:r>
          </a:p>
          <a:p>
            <a:pPr>
              <a:defRPr sz="1600"/>
            </a:pPr>
            <a:r>
              <a:t>       images still get called Forged because of residual sensor-noise overlap with Tp/.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Future work, in priority order:</a:t>
            </a:r>
          </a:p>
          <a:p>
            <a:pPr>
              <a:defRPr sz="1600"/>
            </a:pPr>
            <a:r>
              <a:t>    1.  Frequency-aware backbone (NoisePrint / FrequencyNet) for the Hard tier.</a:t>
            </a:r>
          </a:p>
          <a:p>
            <a:pPr>
              <a:defRPr sz="1600"/>
            </a:pPr>
            <a:r>
              <a:t>    2.  Targeted fine-tune of last block on Easy + Medium only, after spread drops.</a:t>
            </a:r>
          </a:p>
          <a:p>
            <a:pPr>
              <a:defRPr sz="1600"/>
            </a:pPr>
            <a:r>
              <a:t>    3.  Calibrate RF/SVM probabilities for trustworthy demo confidences.</a:t>
            </a:r>
          </a:p>
          <a:p>
            <a:pPr>
              <a:defRPr sz="1600"/>
            </a:pPr>
            <a:r>
              <a:t>    4.  Leave-one-generator-out evaluation for cross-dataset robustness.</a:t>
            </a:r>
          </a:p>
          <a:p>
            <a:pPr>
              <a:defRPr sz="1600"/>
            </a:pPr>
            <a:r>
              <a:t>    5.  Add more Real-image sources to bring Real spread below the 15 pp threshold.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